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63" r:id="rId12"/>
  </p:sldIdLst>
  <p:sldSz cx="9144000" cy="5143500" type="screen16x9"/>
  <p:notesSz cx="6858000" cy="9144000"/>
  <p:embeddedFontLst>
    <p:embeddedFont>
      <p:font typeface="Roboto" charset="0"/>
      <p:regular r:id="rId14"/>
      <p:bold r:id="rId15"/>
      <p:italic r:id="rId16"/>
      <p:boldItalic r:id="rId17"/>
    </p:embeddedFont>
    <p:embeddedFont>
      <p:font typeface="Roboto Medium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69ED"/>
    <a:srgbClr val="F14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-81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37816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3b5a32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3b5a32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3b5a3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3b5a3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992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3b5a3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3b5a32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397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700"/>
            </a:lvl1pPr>
            <a:lvl2pPr lvl="1">
              <a:buNone/>
              <a:defRPr sz="700"/>
            </a:lvl2pPr>
            <a:lvl3pPr lvl="2">
              <a:buNone/>
              <a:defRPr sz="700"/>
            </a:lvl3pPr>
            <a:lvl4pPr lvl="3">
              <a:buNone/>
              <a:defRPr sz="700"/>
            </a:lvl4pPr>
            <a:lvl5pPr lvl="4">
              <a:buNone/>
              <a:defRPr sz="700"/>
            </a:lvl5pPr>
            <a:lvl6pPr lvl="5">
              <a:buNone/>
              <a:defRPr sz="700"/>
            </a:lvl6pPr>
            <a:lvl7pPr lvl="6">
              <a:buNone/>
              <a:defRPr sz="700"/>
            </a:lvl7pPr>
            <a:lvl8pPr lvl="7">
              <a:buNone/>
              <a:defRPr sz="700"/>
            </a:lvl8pPr>
            <a:lvl9pPr lvl="8">
              <a:buNone/>
              <a:defRPr sz="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26466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7F9FC"/>
              </a:buClr>
              <a:buSzPts val="1800"/>
              <a:buChar char="●"/>
              <a:defRPr>
                <a:solidFill>
                  <a:srgbClr val="F7F9FC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○"/>
              <a:defRPr>
                <a:solidFill>
                  <a:srgbClr val="F7F9FC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■"/>
              <a:defRPr>
                <a:solidFill>
                  <a:srgbClr val="F7F9FC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●"/>
              <a:defRPr>
                <a:solidFill>
                  <a:srgbClr val="F7F9FC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○"/>
              <a:defRPr>
                <a:solidFill>
                  <a:srgbClr val="F7F9FC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■"/>
              <a:defRPr>
                <a:solidFill>
                  <a:srgbClr val="F7F9FC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●"/>
              <a:defRPr>
                <a:solidFill>
                  <a:srgbClr val="F7F9FC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7F9FC"/>
              </a:buClr>
              <a:buSzPts val="1400"/>
              <a:buChar char="○"/>
              <a:defRPr>
                <a:solidFill>
                  <a:srgbClr val="F7F9FC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7F9FC"/>
              </a:buClr>
              <a:buSzPts val="1400"/>
              <a:buChar char="■"/>
              <a:defRPr>
                <a:solidFill>
                  <a:srgbClr val="F7F9FC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4132350" y="1209750"/>
            <a:ext cx="879300" cy="0"/>
          </a:xfrm>
          <a:prstGeom prst="straightConnector1">
            <a:avLst/>
          </a:prstGeom>
          <a:noFill/>
          <a:ln w="19050" cap="flat" cmpd="sng">
            <a:solidFill>
              <a:srgbClr val="DFCFE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3166050" y="1210625"/>
            <a:ext cx="2811900" cy="0"/>
          </a:xfrm>
          <a:prstGeom prst="straightConnector1">
            <a:avLst/>
          </a:prstGeom>
          <a:noFill/>
          <a:ln w="19050" cap="flat" cmpd="sng">
            <a:solidFill>
              <a:srgbClr val="DFCFE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600"/>
            </a:lvl1pPr>
            <a:lvl2pPr lvl="1">
              <a:buNone/>
              <a:defRPr sz="600"/>
            </a:lvl2pPr>
            <a:lvl3pPr lvl="2">
              <a:buNone/>
              <a:defRPr sz="600"/>
            </a:lvl3pPr>
            <a:lvl4pPr lvl="3">
              <a:buNone/>
              <a:defRPr sz="600"/>
            </a:lvl4pPr>
            <a:lvl5pPr lvl="4">
              <a:buNone/>
              <a:defRPr sz="600"/>
            </a:lvl5pPr>
            <a:lvl6pPr lvl="5">
              <a:buNone/>
              <a:defRPr sz="600"/>
            </a:lvl6pPr>
            <a:lvl7pPr lvl="6">
              <a:buNone/>
              <a:defRPr sz="600"/>
            </a:lvl7pPr>
            <a:lvl8pPr lvl="7">
              <a:buNone/>
              <a:defRPr sz="600"/>
            </a:lvl8pPr>
            <a:lvl9pPr lvl="8">
              <a:buNone/>
              <a:defRPr sz="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 Template">
  <p:cSld name="CUSTOM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824300" y="766475"/>
            <a:ext cx="1285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Name: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824300" y="1108475"/>
            <a:ext cx="1285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Position: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92750" y="766475"/>
            <a:ext cx="1209900" cy="120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Pic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824300" y="1450475"/>
            <a:ext cx="1285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Contact: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970725" y="766475"/>
            <a:ext cx="224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FCFE7"/>
                </a:solidFill>
              </a:rPr>
              <a:t>[insert]</a:t>
            </a:r>
            <a:endParaRPr sz="1200">
              <a:solidFill>
                <a:srgbClr val="DFCFE7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970725" y="1108475"/>
            <a:ext cx="224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FCFE7"/>
                </a:solidFill>
              </a:rPr>
              <a:t>[insert]</a:t>
            </a:r>
            <a:endParaRPr sz="1200">
              <a:solidFill>
                <a:srgbClr val="DFCFE7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970725" y="1450475"/>
            <a:ext cx="224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FCFE7"/>
                </a:solidFill>
              </a:rPr>
              <a:t>[email]</a:t>
            </a:r>
            <a:endParaRPr sz="1200">
              <a:solidFill>
                <a:srgbClr val="DFCFE7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855975" y="1995325"/>
            <a:ext cx="3357300" cy="0"/>
          </a:xfrm>
          <a:prstGeom prst="straightConnector1">
            <a:avLst/>
          </a:prstGeom>
          <a:noFill/>
          <a:ln w="9525" cap="flat" cmpd="sng">
            <a:solidFill>
              <a:srgbClr val="DFCFE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13"/>
          <p:cNvCxnSpPr/>
          <p:nvPr/>
        </p:nvCxnSpPr>
        <p:spPr>
          <a:xfrm>
            <a:off x="5267875" y="551100"/>
            <a:ext cx="0" cy="4338900"/>
          </a:xfrm>
          <a:prstGeom prst="straightConnector1">
            <a:avLst/>
          </a:prstGeom>
          <a:noFill/>
          <a:ln w="9525" cap="flat" cmpd="sng">
            <a:solidFill>
              <a:srgbClr val="DFC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3"/>
          <p:cNvSpPr txBox="1"/>
          <p:nvPr/>
        </p:nvSpPr>
        <p:spPr>
          <a:xfrm>
            <a:off x="5319575" y="2024675"/>
            <a:ext cx="1804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Block8 Projects: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205050" y="2353950"/>
            <a:ext cx="38088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Project 1 and your role. Include Internal projects if you desire. 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Project 2 and your role. Include Internal projects if you desire. 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...</a:t>
            </a:r>
            <a:endParaRPr sz="1200">
              <a:solidFill>
                <a:srgbClr val="DFCFE7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23075" y="2084375"/>
            <a:ext cx="3889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Professional Qualifications and Memberships: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158400" y="2394425"/>
            <a:ext cx="4985100" cy="5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Qualifications complete or in progress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Relevant memberships to industry groups</a:t>
            </a:r>
            <a:endParaRPr sz="1200">
              <a:solidFill>
                <a:srgbClr val="DFCFE7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23075" y="3127475"/>
            <a:ext cx="3889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Value to Client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58400" y="3382425"/>
            <a:ext cx="4985100" cy="14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List of experiences / skills that bring value to our clients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List of personal qualities that bring value to our clients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“Hands on” experience - jobs, labs, education institutions etc. </a:t>
            </a:r>
            <a:endParaRPr sz="1200">
              <a:solidFill>
                <a:srgbClr val="DFCFE7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319575" y="424475"/>
            <a:ext cx="1804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Background/Tenure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5205050" y="696775"/>
            <a:ext cx="3808800" cy="1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Tenure at Block8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Previous jobs and tenure</a:t>
            </a:r>
            <a:endParaRPr sz="1200">
              <a:solidFill>
                <a:srgbClr val="DFCFE7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CFE7"/>
              </a:buClr>
              <a:buSzPts val="1200"/>
              <a:buChar char="●"/>
            </a:pPr>
            <a:r>
              <a:rPr lang="en" sz="1200">
                <a:solidFill>
                  <a:srgbClr val="DFCFE7"/>
                </a:solidFill>
              </a:rPr>
              <a:t>...</a:t>
            </a:r>
            <a:endParaRPr sz="1200">
              <a:solidFill>
                <a:srgbClr val="DFCFE7"/>
              </a:solidFill>
            </a:endParaRPr>
          </a:p>
        </p:txBody>
      </p:sp>
      <p:cxnSp>
        <p:nvCxnSpPr>
          <p:cNvPr id="75" name="Google Shape;75;p13"/>
          <p:cNvCxnSpPr/>
          <p:nvPr/>
        </p:nvCxnSpPr>
        <p:spPr>
          <a:xfrm>
            <a:off x="5352925" y="4003675"/>
            <a:ext cx="3357300" cy="0"/>
          </a:xfrm>
          <a:prstGeom prst="straightConnector1">
            <a:avLst/>
          </a:prstGeom>
          <a:noFill/>
          <a:ln w="9525" cap="flat" cmpd="sng">
            <a:solidFill>
              <a:srgbClr val="DFCFE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3"/>
          <p:cNvSpPr txBox="1"/>
          <p:nvPr/>
        </p:nvSpPr>
        <p:spPr>
          <a:xfrm>
            <a:off x="5352925" y="4052050"/>
            <a:ext cx="19188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Something personal: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352925" y="4318050"/>
            <a:ext cx="3451800" cy="5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FCFE7"/>
                </a:solidFill>
              </a:rPr>
              <a:t>Enjoys long walks on the beach and smelling the roses in Spring. </a:t>
            </a:r>
            <a:endParaRPr sz="1200">
              <a:solidFill>
                <a:srgbClr val="DFCFE7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BE29F9"/>
            </a:gs>
            <a:gs pos="45000">
              <a:srgbClr val="7C15A7"/>
            </a:gs>
            <a:gs pos="100000">
              <a:srgbClr val="390054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sz="2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466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4825" y="136603"/>
            <a:ext cx="1411251" cy="3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4825" y="4842176"/>
            <a:ext cx="126875" cy="18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 flipH="1">
            <a:off x="-14095" y="-1501150"/>
            <a:ext cx="9172170" cy="1818126"/>
          </a:xfrm>
          <a:prstGeom prst="flowChartDocument">
            <a:avLst/>
          </a:prstGeom>
          <a:gradFill>
            <a:gsLst>
              <a:gs pos="0">
                <a:srgbClr val="E6E8EB"/>
              </a:gs>
              <a:gs pos="34000">
                <a:srgbClr val="F3F4F5"/>
              </a:gs>
              <a:gs pos="100000">
                <a:srgbClr val="FFFFFF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>
            <a:off x="6580179" y="4809714"/>
            <a:ext cx="3823848" cy="1689336"/>
          </a:xfrm>
          <a:prstGeom prst="flowChartDocument">
            <a:avLst/>
          </a:prstGeom>
          <a:gradFill>
            <a:gsLst>
              <a:gs pos="0">
                <a:srgbClr val="F3F3FA"/>
              </a:gs>
              <a:gs pos="89000">
                <a:srgbClr val="F9F9FD"/>
              </a:gs>
              <a:gs pos="100000">
                <a:srgbClr val="FFFFFF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BE29F9"/>
                </a:solidFill>
              </a:defRPr>
            </a:lvl1pPr>
            <a:lvl2pPr lvl="1" algn="r">
              <a:buNone/>
              <a:defRPr sz="800">
                <a:solidFill>
                  <a:srgbClr val="BE29F9"/>
                </a:solidFill>
              </a:defRPr>
            </a:lvl2pPr>
            <a:lvl3pPr lvl="2" algn="r">
              <a:buNone/>
              <a:defRPr sz="800">
                <a:solidFill>
                  <a:srgbClr val="BE29F9"/>
                </a:solidFill>
              </a:defRPr>
            </a:lvl3pPr>
            <a:lvl4pPr lvl="3" algn="r">
              <a:buNone/>
              <a:defRPr sz="800">
                <a:solidFill>
                  <a:srgbClr val="BE29F9"/>
                </a:solidFill>
              </a:defRPr>
            </a:lvl4pPr>
            <a:lvl5pPr lvl="4" algn="r">
              <a:buNone/>
              <a:defRPr sz="800">
                <a:solidFill>
                  <a:srgbClr val="BE29F9"/>
                </a:solidFill>
              </a:defRPr>
            </a:lvl5pPr>
            <a:lvl6pPr lvl="5" algn="r">
              <a:buNone/>
              <a:defRPr sz="800">
                <a:solidFill>
                  <a:srgbClr val="BE29F9"/>
                </a:solidFill>
              </a:defRPr>
            </a:lvl6pPr>
            <a:lvl7pPr lvl="6" algn="r">
              <a:buNone/>
              <a:defRPr sz="800">
                <a:solidFill>
                  <a:srgbClr val="BE29F9"/>
                </a:solidFill>
              </a:defRPr>
            </a:lvl7pPr>
            <a:lvl8pPr lvl="7" algn="r">
              <a:buNone/>
              <a:defRPr sz="800">
                <a:solidFill>
                  <a:srgbClr val="BE29F9"/>
                </a:solidFill>
              </a:defRPr>
            </a:lvl8pPr>
            <a:lvl9pPr lvl="8" algn="r">
              <a:buNone/>
              <a:defRPr sz="800">
                <a:solidFill>
                  <a:srgbClr val="BE29F9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Testing in Agile Model</a:t>
            </a:r>
            <a:endParaRPr dirty="0"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Using Scrum method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Overview</a:t>
            </a:r>
            <a:endParaRPr dirty="0"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1D82AA2-8940-4A6E-BCD7-C7B333B580A1}"/>
              </a:ext>
            </a:extLst>
          </p:cNvPr>
          <p:cNvSpPr txBox="1"/>
          <p:nvPr/>
        </p:nvSpPr>
        <p:spPr>
          <a:xfrm>
            <a:off x="538716" y="1311349"/>
            <a:ext cx="7924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IN" dirty="0">
              <a:solidFill>
                <a:schemeClr val="bg1"/>
              </a:solidFill>
            </a:endParaRPr>
          </a:p>
          <a:p>
            <a:pPr lvl="1"/>
            <a:r>
              <a:rPr lang="en-IN" dirty="0">
                <a:solidFill>
                  <a:schemeClr val="bg1"/>
                </a:solidFill>
              </a:rPr>
              <a:t>Content</a:t>
            </a:r>
          </a:p>
          <a:p>
            <a:pPr lvl="1"/>
            <a:endParaRPr lang="en-IN" dirty="0">
              <a:solidFill>
                <a:schemeClr val="bg1"/>
              </a:solidFill>
            </a:endParaRP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Key </a:t>
            </a:r>
            <a:r>
              <a:rPr lang="en-US" b="1" dirty="0">
                <a:solidFill>
                  <a:schemeClr val="bg1"/>
                </a:solidFill>
              </a:rPr>
              <a:t>Features of Scrum </a:t>
            </a:r>
            <a:r>
              <a:rPr lang="en-US" b="1" dirty="0" smtClean="0">
                <a:solidFill>
                  <a:schemeClr val="bg1"/>
                </a:solidFill>
              </a:rPr>
              <a:t>Methodology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3 Pillars of scrum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Role of Tester in Scrum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Testing Activities in Scrum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Test </a:t>
            </a:r>
            <a:r>
              <a:rPr lang="en-US" b="1" dirty="0" smtClean="0">
                <a:solidFill>
                  <a:schemeClr val="bg1"/>
                </a:solidFill>
              </a:rPr>
              <a:t>Reporting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85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 of Scrum Methodology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Sprints</a:t>
            </a:r>
          </a:p>
          <a:p>
            <a:r>
              <a:rPr lang="en-US" b="1" dirty="0"/>
              <a:t>meetings, events, and </a:t>
            </a:r>
            <a:r>
              <a:rPr lang="en-US" b="1" dirty="0" smtClean="0"/>
              <a:t>milestones</a:t>
            </a:r>
          </a:p>
          <a:p>
            <a:r>
              <a:rPr lang="en-US" b="1" dirty="0"/>
              <a:t>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548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Pillars of Scrum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Roles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Product Owner       Scrum Master       Team</a:t>
            </a:r>
          </a:p>
          <a:p>
            <a:pPr marL="596900" lvl="1" indent="0">
              <a:lnSpc>
                <a:spcPct val="100000"/>
              </a:lnSpc>
              <a:buNone/>
            </a:pPr>
            <a:endParaRPr lang="en-US" dirty="0" smtClean="0"/>
          </a:p>
          <a:p>
            <a:r>
              <a:rPr lang="en-US" dirty="0" smtClean="0"/>
              <a:t>Artifacts</a:t>
            </a:r>
          </a:p>
          <a:p>
            <a:pPr lvl="1"/>
            <a:r>
              <a:rPr lang="en-US" dirty="0" smtClean="0"/>
              <a:t>Product Backlog       Sprint Backlog      Burn-Down Charts</a:t>
            </a:r>
          </a:p>
          <a:p>
            <a:pPr marL="596900" lvl="1" indent="0">
              <a:buNone/>
            </a:pPr>
            <a:endParaRPr lang="en-US" dirty="0" smtClean="0"/>
          </a:p>
          <a:p>
            <a:r>
              <a:rPr lang="en-US" dirty="0" smtClean="0"/>
              <a:t>Ceremonies</a:t>
            </a:r>
          </a:p>
          <a:p>
            <a:pPr lvl="1"/>
            <a:r>
              <a:rPr lang="en-US" dirty="0" smtClean="0"/>
              <a:t>Sprint Planning       Sprint Review       Sprint Retrospect      Daily Scrum Meeting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855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Tester in Scrum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 active </a:t>
            </a:r>
            <a:r>
              <a:rPr lang="en-US" b="1" dirty="0" smtClean="0"/>
              <a:t>role</a:t>
            </a:r>
          </a:p>
          <a:p>
            <a:r>
              <a:rPr lang="en-US" dirty="0" smtClean="0"/>
              <a:t>Unit Testing done by developer</a:t>
            </a:r>
          </a:p>
          <a:p>
            <a:r>
              <a:rPr lang="en-US" dirty="0" smtClean="0"/>
              <a:t>Product Owner involved in testing</a:t>
            </a:r>
          </a:p>
          <a:p>
            <a:r>
              <a:rPr lang="en-US" dirty="0" smtClean="0"/>
              <a:t>Dedicated testing team on basis of project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2642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Activities in </a:t>
            </a:r>
            <a:r>
              <a:rPr lang="en-US" b="1" dirty="0" smtClean="0"/>
              <a:t>Scrum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b="1" dirty="0" smtClean="0"/>
              <a:t>During</a:t>
            </a:r>
          </a:p>
          <a:p>
            <a:pPr marL="114300" indent="0">
              <a:buNone/>
            </a:pPr>
            <a:endParaRPr lang="en-US" sz="600" b="1" dirty="0" smtClean="0"/>
          </a:p>
          <a:p>
            <a:r>
              <a:rPr lang="en-US" b="1" dirty="0" smtClean="0"/>
              <a:t>Sprint Planning</a:t>
            </a:r>
          </a:p>
          <a:p>
            <a:r>
              <a:rPr lang="en-US" b="1" dirty="0" smtClean="0"/>
              <a:t>Sprint</a:t>
            </a:r>
          </a:p>
          <a:p>
            <a:r>
              <a:rPr lang="en-US" b="1" dirty="0"/>
              <a:t>Sprint Retrospective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901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Planning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</a:t>
            </a:r>
            <a:r>
              <a:rPr lang="en-US" dirty="0" smtClean="0"/>
              <a:t>ester </a:t>
            </a:r>
          </a:p>
          <a:p>
            <a:r>
              <a:rPr lang="en-US" dirty="0" smtClean="0"/>
              <a:t>should </a:t>
            </a:r>
            <a:r>
              <a:rPr lang="en-US" b="1" dirty="0"/>
              <a:t>pick</a:t>
            </a:r>
            <a:r>
              <a:rPr lang="en-US" dirty="0"/>
              <a:t> a </a:t>
            </a:r>
            <a:r>
              <a:rPr lang="en-US" b="1" dirty="0"/>
              <a:t>user-story</a:t>
            </a:r>
            <a:r>
              <a:rPr lang="en-US" dirty="0"/>
              <a:t> from the product backlog </a:t>
            </a:r>
            <a:r>
              <a:rPr lang="en-US" b="1" dirty="0"/>
              <a:t>that should be tested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Perform </a:t>
            </a:r>
            <a:r>
              <a:rPr lang="en-US" b="1" dirty="0" smtClean="0"/>
              <a:t>Effort Estimation </a:t>
            </a:r>
            <a:r>
              <a:rPr lang="en-US" dirty="0" smtClean="0"/>
              <a:t>for testing selected user stories</a:t>
            </a:r>
          </a:p>
          <a:p>
            <a:r>
              <a:rPr lang="en-US" dirty="0"/>
              <a:t>must </a:t>
            </a:r>
            <a:r>
              <a:rPr lang="en-US" b="1" dirty="0"/>
              <a:t>know</a:t>
            </a:r>
            <a:r>
              <a:rPr lang="en-US" dirty="0"/>
              <a:t> what </a:t>
            </a:r>
            <a:r>
              <a:rPr lang="en-US" b="1" dirty="0"/>
              <a:t>sprint goals </a:t>
            </a:r>
            <a:r>
              <a:rPr lang="en-US" dirty="0"/>
              <a:t>are</a:t>
            </a:r>
            <a:r>
              <a:rPr lang="en-US" dirty="0" smtClean="0"/>
              <a:t>.</a:t>
            </a:r>
          </a:p>
          <a:p>
            <a:r>
              <a:rPr lang="en-US" dirty="0"/>
              <a:t>contribute to the </a:t>
            </a:r>
            <a:r>
              <a:rPr lang="en-US" b="1" dirty="0"/>
              <a:t>prioritizing </a:t>
            </a:r>
            <a:r>
              <a:rPr lang="en-US" b="1" dirty="0" smtClean="0"/>
              <a:t>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26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Support</a:t>
            </a:r>
            <a:r>
              <a:rPr lang="en-US" dirty="0"/>
              <a:t> developers in </a:t>
            </a:r>
            <a:r>
              <a:rPr lang="en-US" b="1" dirty="0"/>
              <a:t>unit </a:t>
            </a:r>
            <a:r>
              <a:rPr lang="en-US" b="1" dirty="0" smtClean="0"/>
              <a:t>testing</a:t>
            </a:r>
          </a:p>
          <a:p>
            <a:r>
              <a:rPr lang="en-US" b="1" dirty="0"/>
              <a:t>Test user-story</a:t>
            </a:r>
            <a:r>
              <a:rPr lang="en-US" dirty="0"/>
              <a:t> when completed</a:t>
            </a:r>
            <a:r>
              <a:rPr lang="en-US" dirty="0" smtClean="0"/>
              <a:t>.</a:t>
            </a:r>
          </a:p>
          <a:p>
            <a:r>
              <a:rPr lang="en-US" dirty="0"/>
              <a:t>attends all </a:t>
            </a:r>
            <a:r>
              <a:rPr lang="en-US" b="1" dirty="0"/>
              <a:t>daily standup </a:t>
            </a:r>
            <a:r>
              <a:rPr lang="en-US" dirty="0"/>
              <a:t>meeting to speak </a:t>
            </a:r>
            <a:r>
              <a:rPr lang="en-US" dirty="0" smtClean="0"/>
              <a:t>up</a:t>
            </a:r>
          </a:p>
          <a:p>
            <a:r>
              <a:rPr lang="en-US" dirty="0" smtClean="0"/>
              <a:t>puts </a:t>
            </a:r>
            <a:r>
              <a:rPr lang="en-US" b="1" dirty="0" smtClean="0"/>
              <a:t>backlog items </a:t>
            </a:r>
            <a:r>
              <a:rPr lang="en-US" dirty="0" smtClean="0"/>
              <a:t>not completed </a:t>
            </a:r>
            <a:r>
              <a:rPr lang="en-US" b="1" dirty="0" smtClean="0"/>
              <a:t>to the next sprint</a:t>
            </a:r>
          </a:p>
          <a:p>
            <a:r>
              <a:rPr lang="en-US" dirty="0" smtClean="0"/>
              <a:t>responsible </a:t>
            </a:r>
            <a:r>
              <a:rPr lang="en-US" dirty="0"/>
              <a:t>for developing </a:t>
            </a:r>
            <a:r>
              <a:rPr lang="en-US" b="1" dirty="0" smtClean="0"/>
              <a:t>automation scripts</a:t>
            </a:r>
            <a:r>
              <a:rPr lang="en-US" dirty="0" smtClean="0"/>
              <a:t>.</a:t>
            </a:r>
          </a:p>
          <a:p>
            <a:r>
              <a:rPr lang="en-US" b="1" dirty="0"/>
              <a:t>Review</a:t>
            </a:r>
            <a:r>
              <a:rPr lang="en-US" dirty="0"/>
              <a:t> CI automation results and send </a:t>
            </a:r>
            <a:r>
              <a:rPr lang="en-US" b="1" dirty="0"/>
              <a:t>Reports</a:t>
            </a:r>
            <a:r>
              <a:rPr lang="en-US" dirty="0"/>
              <a:t> to the stakeholders</a:t>
            </a:r>
          </a:p>
          <a:p>
            <a:r>
              <a:rPr lang="en-US" dirty="0"/>
              <a:t>Executing </a:t>
            </a:r>
            <a:r>
              <a:rPr lang="en-US" b="1" dirty="0"/>
              <a:t>non-functional testing </a:t>
            </a:r>
            <a:r>
              <a:rPr lang="en-US" dirty="0"/>
              <a:t>for approved user stories</a:t>
            </a:r>
          </a:p>
          <a:p>
            <a:r>
              <a:rPr lang="en-US" dirty="0"/>
              <a:t>Coordinate with customer and product owner to </a:t>
            </a:r>
            <a:r>
              <a:rPr lang="en-US" b="1" dirty="0"/>
              <a:t>define acceptance criteria </a:t>
            </a:r>
            <a:r>
              <a:rPr lang="en-US" dirty="0"/>
              <a:t>for Acceptance Tests</a:t>
            </a:r>
          </a:p>
          <a:p>
            <a:r>
              <a:rPr lang="en-US" dirty="0"/>
              <a:t>At </a:t>
            </a:r>
            <a:r>
              <a:rPr lang="en-US" dirty="0" smtClean="0"/>
              <a:t>sprint end, might do </a:t>
            </a:r>
            <a:r>
              <a:rPr lang="en-US" b="1" dirty="0" smtClean="0"/>
              <a:t>acceptance </a:t>
            </a:r>
            <a:r>
              <a:rPr lang="en-US" b="1" dirty="0"/>
              <a:t>testing(UAT) </a:t>
            </a:r>
            <a:r>
              <a:rPr lang="en-US" b="1" dirty="0" smtClean="0"/>
              <a:t> </a:t>
            </a:r>
            <a:r>
              <a:rPr lang="en-US" dirty="0"/>
              <a:t>and confirms testing completeness for the current </a:t>
            </a:r>
            <a:r>
              <a:rPr lang="en-US" dirty="0" smtClean="0"/>
              <a:t>sprint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017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Sprint Retrospective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out what went </a:t>
            </a:r>
            <a:r>
              <a:rPr lang="en-US" b="1" dirty="0"/>
              <a:t>wrong</a:t>
            </a:r>
            <a:r>
              <a:rPr lang="en-US" dirty="0"/>
              <a:t> and what went </a:t>
            </a:r>
            <a:r>
              <a:rPr lang="en-US" b="1" dirty="0" smtClean="0"/>
              <a:t>right</a:t>
            </a:r>
          </a:p>
          <a:p>
            <a:r>
              <a:rPr lang="en-US" dirty="0"/>
              <a:t>identifies </a:t>
            </a:r>
            <a:r>
              <a:rPr lang="en-US" b="1" dirty="0" smtClean="0"/>
              <a:t>lessons </a:t>
            </a:r>
            <a:r>
              <a:rPr lang="en-US" b="1" dirty="0"/>
              <a:t>learned</a:t>
            </a:r>
            <a:r>
              <a:rPr lang="en-US" dirty="0"/>
              <a:t> and </a:t>
            </a:r>
            <a:r>
              <a:rPr lang="en-US" b="1" dirty="0"/>
              <a:t>best practices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751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</a:t>
            </a:r>
            <a:r>
              <a:rPr lang="en-US" b="1" dirty="0" smtClean="0"/>
              <a:t>Reporting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Burn down </a:t>
            </a:r>
            <a:r>
              <a:rPr lang="en-US" b="1" dirty="0" smtClean="0"/>
              <a:t>chart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Velocity History Graph</a:t>
            </a:r>
          </a:p>
          <a:p>
            <a:endParaRPr lang="en-US" dirty="0" smtClean="0"/>
          </a:p>
          <a:p>
            <a:r>
              <a:rPr lang="en-US" b="1" dirty="0" smtClean="0"/>
              <a:t>Additional </a:t>
            </a:r>
            <a:r>
              <a:rPr lang="en-US" b="1" dirty="0" err="1" smtClean="0"/>
              <a:t>metrics</a:t>
            </a:r>
            <a:r>
              <a:rPr lang="en-US" dirty="0" err="1" smtClean="0"/>
              <a:t>:Schedule</a:t>
            </a:r>
            <a:r>
              <a:rPr lang="en-US" dirty="0" smtClean="0"/>
              <a:t> </a:t>
            </a:r>
            <a:r>
              <a:rPr lang="en-US" dirty="0"/>
              <a:t>burn, budget burn, theme percent complete, stories completed - stories remaining and so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613" y="1609414"/>
            <a:ext cx="3489960" cy="188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8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11700" y="637925"/>
            <a:ext cx="85206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Thank You</a:t>
            </a:r>
            <a:endParaRPr dirty="0"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8516833" y="48097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255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10422</TotalTime>
  <Words>280</Words>
  <Application>Microsoft Office PowerPoint</Application>
  <PresentationFormat>On-screen Show (16:9)</PresentationFormat>
  <Paragraphs>76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Roboto Medium</vt:lpstr>
      <vt:lpstr>Simple Light</vt:lpstr>
      <vt:lpstr>Testing in Agile Model</vt:lpstr>
      <vt:lpstr>Overview</vt:lpstr>
      <vt:lpstr>Key Features of Scrum Methodology </vt:lpstr>
      <vt:lpstr>3 Pillars of Scrum</vt:lpstr>
      <vt:lpstr>Role of Tester in Scrum</vt:lpstr>
      <vt:lpstr>Testing Activities in Scrum</vt:lpstr>
      <vt:lpstr>Sprint Planning</vt:lpstr>
      <vt:lpstr>Sprint</vt:lpstr>
      <vt:lpstr>Sprint Retrospective</vt:lpstr>
      <vt:lpstr>Test Reporting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Joiners: Induction</dc:title>
  <dc:creator>Gurinder Singh</dc:creator>
  <cp:lastModifiedBy>Ekam</cp:lastModifiedBy>
  <cp:revision>66</cp:revision>
  <dcterms:modified xsi:type="dcterms:W3CDTF">2020-01-14T07:35:05Z</dcterms:modified>
</cp:coreProperties>
</file>